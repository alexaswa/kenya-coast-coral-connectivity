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4E7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0"/>
            <a:ext cx="12188952" cy="914400"/>
          </a:xfrm>
          <a:prstGeom prst="rect">
            <a:avLst/>
          </a:prstGeom>
          <a:solidFill>
            <a:srgbClr val="2E8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263640"/>
            <a:ext cx="12188952" cy="594360"/>
          </a:xfrm>
          <a:prstGeom prst="rect">
            <a:avLst/>
          </a:prstGeom>
          <a:solidFill>
            <a:srgbClr val="004E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E8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601200" y="0"/>
            <a:ext cx="2587752" cy="2286000"/>
          </a:xfrm>
          <a:prstGeom prst="rect">
            <a:avLst/>
          </a:prstGeom>
          <a:solidFill>
            <a:srgbClr val="E8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91440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</a:rPr>
              <a:t>Kenya Coast
Coral Connectivity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520440"/>
            <a:ext cx="8961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D6EBF5"/>
                </a:solidFill>
              </a:rPr>
              <a:t>Graph Theory Analysis of Ecological Connectivity Networks
for Marine Protected Area Design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4754880"/>
            <a:ext cx="5029200" cy="45720"/>
          </a:xfrm>
          <a:prstGeom prst="rect">
            <a:avLst/>
          </a:prstGeom>
          <a:solidFill>
            <a:srgbClr val="E8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48463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5E6CA"/>
                </a:solidFill>
              </a:rPr>
              <a:t>Reef Ecology &amp; Marine Conservation Programme  |  2024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80" y="36576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15 Reef
Patches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E6C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4E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E8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601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Project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40080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6EBF5"/>
                </a:solidFill>
              </a:rPr>
              <a:t>Why graph theory for coral reefs?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4E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5624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6EBF5"/>
                </a:solidFill>
              </a:rPr>
              <a:t>Kenya Coast Coral Connectivity  |  Graph Theory Analysis  |  2024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556248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D6EBF5"/>
                </a:solidFill>
              </a:rPr>
              <a:t>2 / 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1887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4E7C"/>
                </a:solidFill>
              </a:rPr>
              <a:t>Objectives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691640"/>
            <a:ext cx="7498079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600">
                <a:solidFill>
                  <a:srgbClr val="1A1A2E"/>
                </a:solidFill>
              </a:rPr>
              <a:t>● Quantify larval-dispersal connectivity among 15 Kenya coast reef patches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1A1A2E"/>
                </a:solidFill>
              </a:rPr>
              <a:t>● Identify key source reefs (strong larval exporters)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1A1A2E"/>
                </a:solidFill>
              </a:rPr>
              <a:t>● Pinpoint stepping-stone reefs that link otherwise isolated reef clusters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1A1A2E"/>
                </a:solidFill>
              </a:rPr>
              <a:t>● Detect hub reefs with disproportionate network influence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1A1A2E"/>
                </a:solidFill>
              </a:rPr>
              <a:t>● Rank all reef patches and select the top-10 MPA candidates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1A1A2E"/>
                </a:solidFill>
              </a:rPr>
              <a:t>● Provide a reproducible, data-driven framework for conservation planning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321040" y="1188720"/>
            <a:ext cx="3566160" cy="4754880"/>
          </a:xfrm>
          <a:prstGeom prst="rect">
            <a:avLst/>
          </a:prstGeom>
          <a:solidFill>
            <a:srgbClr val="004E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0" y="128016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0A500"/>
                </a:solidFill>
              </a:rPr>
              <a:t>At a Glance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58200" y="178308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15 reef patches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58200" y="246888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125 directed edges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58200" y="315468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3 communities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58200" y="384048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9 graph metrics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58200" y="452628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Top-10 MPAs ranked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E6C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4E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E8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601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Study Area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40080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6EBF5"/>
                </a:solidFill>
              </a:rPr>
              <a:t>15 Reef Patches · Kenya Coast · Indian Ocean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4E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5624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6EBF5"/>
                </a:solidFill>
              </a:rPr>
              <a:t>Kenya Coast Coral Connectivity  |  Graph Theory Analysis  |  2024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556248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D6EBF5"/>
                </a:solidFill>
              </a:rPr>
              <a:t>3 / 19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188720"/>
            <a:ext cx="3840480" cy="5212080"/>
          </a:xfrm>
          <a:prstGeom prst="rect">
            <a:avLst/>
          </a:prstGeom>
          <a:solidFill>
            <a:srgbClr val="D6E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2344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4E7C"/>
                </a:solidFill>
              </a:rPr>
              <a:t>▲ Northern Cluster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16002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  1. Malindi Marine National Park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193852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  2. Watamu Marine National Park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2276856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  3. Mida Creek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2615184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  4. Kilifi Reef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295351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  5. Vipingo Reef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33832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8648"/>
                </a:solidFill>
              </a:rPr>
              <a:t>▶ Central Cluster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3749039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  6. Mombasa Marine National Park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" y="408736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  7. Bamburi Reef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4425696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  8. Nyali Reef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" y="4764023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  9. Tiwi Reef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51663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84C4C"/>
                </a:solidFill>
              </a:rPr>
              <a:t>▼ Southern Cluster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55321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  10. Diani Reef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" y="587044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  11. Chale Lagoon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" y="6208776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  12. Gazi Bay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" y="6547104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  13. Funzi Bay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" y="6885431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  14. Shimoni Reef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72237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  15. Kisite-Mpunguti MNP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89120" y="1188720"/>
            <a:ext cx="74980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4E7C"/>
                </a:solidFill>
              </a:rPr>
              <a:t>Oceanographic Context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89120" y="1737360"/>
            <a:ext cx="7498079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>
                <a:solidFill>
                  <a:srgbClr val="1A1A2E"/>
                </a:solidFill>
              </a:rPr>
              <a:t>● East African Coastal Current (EACC) flows N→S during SE monsoon (May–Oct)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A1A2E"/>
                </a:solidFill>
              </a:rPr>
              <a:t>● NE monsoon reverses flow S→N (Nov–Apr)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A1A2E"/>
                </a:solidFill>
              </a:rPr>
              <a:t>● Net larval dispersal has a southward bias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A1A2E"/>
                </a:solidFill>
              </a:rPr>
              <a:t>● Adjacent reef patches have highest connectivity; decays with distance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A1A2E"/>
                </a:solidFill>
              </a:rPr>
              <a:t>● Pelagic larval duration determines dispersal range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A1A2E"/>
                </a:solidFill>
              </a:rPr>
              <a:t>● MNP = Marine National Park (existing protection)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E6C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4E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E8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601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Methods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40080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6EBF5"/>
                </a:solidFill>
              </a:rPr>
              <a:t>Graph Theory Framework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4E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5624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6EBF5"/>
                </a:solidFill>
              </a:rPr>
              <a:t>Kenya Coast Coral Connectivity  |  Graph Theory Analysis  |  2024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556248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D6EBF5"/>
                </a:solidFill>
              </a:rPr>
              <a:t>4 / 19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188720"/>
            <a:ext cx="2103120" cy="1463040"/>
          </a:xfrm>
          <a:prstGeom prst="rect">
            <a:avLst/>
          </a:prstGeom>
          <a:solidFill>
            <a:srgbClr val="004E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23444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1. Data
Input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1920240"/>
            <a:ext cx="2011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5E6CA"/>
                </a:solidFill>
              </a:rPr>
              <a:t>Square CSV
15×15 matrix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23160" y="150876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4E7C"/>
                </a:solidFill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97480" y="1188720"/>
            <a:ext cx="2103120" cy="1463040"/>
          </a:xfrm>
          <a:prstGeom prst="rect">
            <a:avLst/>
          </a:prstGeom>
          <a:solidFill>
            <a:srgbClr val="2E8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0" y="123444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2. Graph
Build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1920240"/>
            <a:ext cx="2011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5E6CA"/>
                </a:solidFill>
              </a:rPr>
              <a:t>Directed
Weighted
nx.DiGraph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150876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4E7C"/>
                </a:solidFill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74920" y="1188720"/>
            <a:ext cx="2103120" cy="1463040"/>
          </a:xfrm>
          <a:prstGeom prst="rect">
            <a:avLst/>
          </a:prstGeom>
          <a:solidFill>
            <a:srgbClr val="E8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20640" y="123444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3. Metrics
Compute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20640" y="1920240"/>
            <a:ext cx="2011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5E6CA"/>
                </a:solidFill>
              </a:rPr>
              <a:t>9 graph-theory
metrics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78040" y="150876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4E7C"/>
                </a:solidFill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452360" y="1188720"/>
            <a:ext cx="2103120" cy="1463040"/>
          </a:xfrm>
          <a:prstGeom prst="rect">
            <a:avLst/>
          </a:prstGeom>
          <a:solidFill>
            <a:srgbClr val="004E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98080" y="123444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4. Community
Detect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80" y="1920240"/>
            <a:ext cx="2011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5E6CA"/>
                </a:solidFill>
              </a:rPr>
              <a:t>Louvain
algorithm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55480" y="150876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4E7C"/>
                </a:solidFill>
              </a:rPr>
              <a:t>→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829800" y="1188720"/>
            <a:ext cx="2103120" cy="1463040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875520" y="123444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5. MPA
Rank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75520" y="1920240"/>
            <a:ext cx="2011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5E6CA"/>
                </a:solidFill>
              </a:rPr>
              <a:t>Composite
score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0040" y="292608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4E7C"/>
                </a:solidFill>
              </a:rPr>
              <a:t>Graph Metrics Computed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3383280"/>
            <a:ext cx="3200400" cy="347472"/>
          </a:xfrm>
          <a:prstGeom prst="rect">
            <a:avLst/>
          </a:prstGeom>
          <a:solidFill>
            <a:srgbClr val="004E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520440" y="3383280"/>
            <a:ext cx="7315200" cy="347472"/>
          </a:xfrm>
          <a:prstGeom prst="rect">
            <a:avLst/>
          </a:prstGeom>
          <a:solidFill>
            <a:srgbClr val="004E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11480" y="3429000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Metric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11880" y="3429000"/>
            <a:ext cx="7223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Ecological Meaning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0040" y="3730752"/>
            <a:ext cx="320040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520440" y="3730752"/>
            <a:ext cx="731520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11480" y="3776472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Weighted Out-Degree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11880" y="3776472"/>
            <a:ext cx="7223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Total larval-export strength of a reef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0040" y="4078224"/>
            <a:ext cx="3200400" cy="347472"/>
          </a:xfrm>
          <a:prstGeom prst="rect">
            <a:avLst/>
          </a:prstGeom>
          <a:solidFill>
            <a:srgbClr val="D6E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520440" y="4078224"/>
            <a:ext cx="7315200" cy="347472"/>
          </a:xfrm>
          <a:prstGeom prst="rect">
            <a:avLst/>
          </a:prstGeom>
          <a:solidFill>
            <a:srgbClr val="D6E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11480" y="4123944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Weighted In-Degree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11880" y="4123944"/>
            <a:ext cx="7223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Total larval-import (sink) strength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20040" y="4425696"/>
            <a:ext cx="320040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3520440" y="4425696"/>
            <a:ext cx="731520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11480" y="4471416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Betweenness Centrality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611880" y="4471416"/>
            <a:ext cx="7223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Stepping-stone / corridor role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20040" y="4773168"/>
            <a:ext cx="3200400" cy="347472"/>
          </a:xfrm>
          <a:prstGeom prst="rect">
            <a:avLst/>
          </a:prstGeom>
          <a:solidFill>
            <a:srgbClr val="D6E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3520440" y="4773168"/>
            <a:ext cx="7315200" cy="347472"/>
          </a:xfrm>
          <a:prstGeom prst="rect">
            <a:avLst/>
          </a:prstGeom>
          <a:solidFill>
            <a:srgbClr val="D6E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11480" y="4818888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Closeness Centrality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611880" y="4818888"/>
            <a:ext cx="7223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Accessibility to the whole reef network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20040" y="5120640"/>
            <a:ext cx="320040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3520440" y="5120640"/>
            <a:ext cx="731520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11480" y="5166360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Eigenvector Centrality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611880" y="5166360"/>
            <a:ext cx="7223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Hub influence — connected to well-connected reefs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20040" y="5468112"/>
            <a:ext cx="3200400" cy="347472"/>
          </a:xfrm>
          <a:prstGeom prst="rect">
            <a:avLst/>
          </a:prstGeom>
          <a:solidFill>
            <a:srgbClr val="D6E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3520440" y="5468112"/>
            <a:ext cx="7315200" cy="347472"/>
          </a:xfrm>
          <a:prstGeom prst="rect">
            <a:avLst/>
          </a:prstGeom>
          <a:solidFill>
            <a:srgbClr val="D6E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11480" y="5513832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PageRank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611880" y="5513832"/>
            <a:ext cx="7223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Flow-based larval-source prestige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20040" y="5815584"/>
            <a:ext cx="320040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3520440" y="5815584"/>
            <a:ext cx="731520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11480" y="5861304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Local Clustering Coeff.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611880" y="5861304"/>
            <a:ext cx="7223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Density of a reef's neighbourhood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20040" y="6163056"/>
            <a:ext cx="3200400" cy="347472"/>
          </a:xfrm>
          <a:prstGeom prst="rect">
            <a:avLst/>
          </a:prstGeom>
          <a:solidFill>
            <a:srgbClr val="D6E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3520440" y="6163056"/>
            <a:ext cx="7315200" cy="347472"/>
          </a:xfrm>
          <a:prstGeom prst="rect">
            <a:avLst/>
          </a:prstGeom>
          <a:solidFill>
            <a:srgbClr val="D6E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11480" y="6208776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Global Transitivity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611880" y="6208776"/>
            <a:ext cx="7223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Overall triangle fraction of the network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20040" y="6510528"/>
            <a:ext cx="320040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3520440" y="6510528"/>
            <a:ext cx="731520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11480" y="6556248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Community (Louvain)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611880" y="6556248"/>
            <a:ext cx="7223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Reef cluster membership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E6C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4E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E8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601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Synthetic 10-Node Demo Network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40080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6EBF5"/>
                </a:solidFill>
              </a:rPr>
              <a:t>Graph-theory concepts illustrated on a controlled example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4E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5624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6EBF5"/>
                </a:solidFill>
              </a:rPr>
              <a:t>Kenya Coast Coral Connectivity  |  Graph Theory Analysis  |  2024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556248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D6EBF5"/>
                </a:solidFill>
              </a:rPr>
              <a:t>5 / 19</a:t>
            </a:r>
          </a:p>
        </p:txBody>
      </p:sp>
      <p:pic>
        <p:nvPicPr>
          <p:cNvPr id="9" name="Picture 8" descr="network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43000"/>
            <a:ext cx="6529763" cy="521208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6858000" y="1188720"/>
            <a:ext cx="5029200" cy="5120640"/>
          </a:xfrm>
          <a:prstGeom prst="rect">
            <a:avLst/>
          </a:prstGeom>
          <a:solidFill>
            <a:srgbClr val="004E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0" y="128016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0A500"/>
                </a:solidFill>
              </a:rPr>
              <a:t>Network Design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95160" y="173736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• 10 nodes (N0–N9)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2249424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• 17 directed, weighted edges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2761488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• 2 main communities (A &amp; B)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5160" y="3273552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• Bridge node N4 → N5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95160" y="3785616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• Hub node N2 (cross-community links)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95160" y="42976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• Node size  ∝  out-degree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95160" y="4809744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• Node colour  ∝  betweenness centrality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95160" y="5321808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• Edge width  ∝  connection weight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903720" y="5852160"/>
            <a:ext cx="4846320" cy="45720"/>
          </a:xfrm>
          <a:prstGeom prst="rect">
            <a:avLst/>
          </a:prstGeom>
          <a:solidFill>
            <a:srgbClr val="E8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49440" y="58978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5E6CA"/>
                </a:solidFill>
              </a:rPr>
              <a:t>Global transitivity: 0.279  |  4 communities detected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E6C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4E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E8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601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Synthetic Network – Centrality Metrics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40080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6EBF5"/>
                </a:solidFill>
              </a:rPr>
              <a:t>Each node scored across six complementary measures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4E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5624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6EBF5"/>
                </a:solidFill>
              </a:rPr>
              <a:t>Kenya Coast Coral Connectivity  |  Graph Theory Analysis  |  2024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556248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D6EBF5"/>
                </a:solidFill>
              </a:rPr>
              <a:t>6 / 19</a:t>
            </a:r>
          </a:p>
        </p:txBody>
      </p:sp>
      <p:pic>
        <p:nvPicPr>
          <p:cNvPr id="9" name="Picture 8" descr="bar_out_degre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143000"/>
            <a:ext cx="3886200" cy="2468880"/>
          </a:xfrm>
          <a:prstGeom prst="rect">
            <a:avLst/>
          </a:prstGeom>
        </p:spPr>
      </p:pic>
      <p:pic>
        <p:nvPicPr>
          <p:cNvPr id="10" name="Picture 9" descr="bar_betweenne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0520" y="1143000"/>
            <a:ext cx="3886200" cy="2468880"/>
          </a:xfrm>
          <a:prstGeom prst="rect">
            <a:avLst/>
          </a:prstGeom>
        </p:spPr>
      </p:pic>
      <p:pic>
        <p:nvPicPr>
          <p:cNvPr id="11" name="Picture 10" descr="bar_eigenvecto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8159" y="1143000"/>
            <a:ext cx="3886200" cy="2468880"/>
          </a:xfrm>
          <a:prstGeom prst="rect">
            <a:avLst/>
          </a:prstGeom>
        </p:spPr>
      </p:pic>
      <p:pic>
        <p:nvPicPr>
          <p:cNvPr id="12" name="Picture 11" descr="bar_in_degre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" y="3794760"/>
            <a:ext cx="3886200" cy="2468880"/>
          </a:xfrm>
          <a:prstGeom prst="rect">
            <a:avLst/>
          </a:prstGeom>
        </p:spPr>
      </p:pic>
      <p:pic>
        <p:nvPicPr>
          <p:cNvPr id="13" name="Picture 12" descr="bar_closenes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60520" y="3794760"/>
            <a:ext cx="3886200" cy="2468880"/>
          </a:xfrm>
          <a:prstGeom prst="rect">
            <a:avLst/>
          </a:prstGeom>
        </p:spPr>
      </p:pic>
      <p:pic>
        <p:nvPicPr>
          <p:cNvPr id="14" name="Picture 13" descr="bar_pageran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38159" y="3794760"/>
            <a:ext cx="3886200" cy="24688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E6C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4E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E8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601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Kenya Coast Connectivity Matrix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40080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6EBF5"/>
                </a:solidFill>
              </a:rPr>
              <a:t>15 × 15 directed larval-dispersal weights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4E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5624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6EBF5"/>
                </a:solidFill>
              </a:rPr>
              <a:t>Kenya Coast Coral Connectivity  |  Graph Theory Analysis  |  2024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556248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D6EBF5"/>
                </a:solidFill>
              </a:rPr>
              <a:t>7 / 19</a:t>
            </a:r>
          </a:p>
        </p:txBody>
      </p:sp>
      <p:pic>
        <p:nvPicPr>
          <p:cNvPr id="9" name="Picture 8" descr="connectivity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097280"/>
            <a:ext cx="6109813" cy="534924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8503920" y="1188720"/>
            <a:ext cx="3474720" cy="5120640"/>
          </a:xfrm>
          <a:prstGeom prst="rect">
            <a:avLst/>
          </a:prstGeom>
          <a:solidFill>
            <a:srgbClr val="004E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95360" y="128016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0A500"/>
                </a:solidFill>
              </a:rPr>
              <a:t>How to Read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41080" y="1737360"/>
            <a:ext cx="3246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• Rows = source reefs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41080" y="2331720"/>
            <a:ext cx="3246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• Columns = destination reefs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41080" y="2926080"/>
            <a:ext cx="3246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• Darker cell = stronger connection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41080" y="3520440"/>
            <a:ext cx="3246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• Diagonal = 0 (self-loops excluded)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41080" y="4114800"/>
            <a:ext cx="3246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• Southward bias visible in the lower triangle (EACC effect)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41080" y="4709160"/>
            <a:ext cx="3246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• Strong local clusters (bright 3×3 blocks) correspond to Louvain communities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E6C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4E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E8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601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Kenya Reef Connectivity Network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40080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6EBF5"/>
                </a:solidFill>
              </a:rPr>
              <a:t>Node size = out-degree strength  |  Node colour = betweenness centrality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4E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5624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6EBF5"/>
                </a:solidFill>
              </a:rPr>
              <a:t>Kenya Coast Coral Connectivity  |  Graph Theory Analysis  |  2024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556248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D6EBF5"/>
                </a:solidFill>
              </a:rPr>
              <a:t>8 / 19</a:t>
            </a:r>
          </a:p>
        </p:txBody>
      </p:sp>
      <p:pic>
        <p:nvPicPr>
          <p:cNvPr id="9" name="Picture 8" descr="network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097280"/>
            <a:ext cx="6645417" cy="534924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8503920" y="1188720"/>
            <a:ext cx="3474720" cy="5120640"/>
          </a:xfrm>
          <a:prstGeom prst="rect">
            <a:avLst/>
          </a:prstGeom>
          <a:solidFill>
            <a:srgbClr val="004E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95360" y="128016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0A500"/>
                </a:solidFill>
              </a:rPr>
              <a:t>Key Observations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41080" y="1737360"/>
            <a:ext cx="3246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• Mombasa MNP dominates as the largest, brightest node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41080" y="2423160"/>
            <a:ext cx="3246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• Two dense sub-clusters: northern (Malindi–Vipingo) and southern (Diani–Kisite)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41080" y="3108960"/>
            <a:ext cx="3246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• Vipingo Reef acts as a bridge between clusters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41080" y="3794760"/>
            <a:ext cx="3246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• High betweenness reefs are warmly coloured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41080" y="4480560"/>
            <a:ext cx="3246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• Edge widths reflect relative dispersal probability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E6C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4E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E8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601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Community Structure — Louvain Algorithm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40080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6EBF5"/>
                </a:solidFill>
              </a:rPr>
              <a:t>Reef patches grouped by internal connectivity strength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4E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5624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6EBF5"/>
                </a:solidFill>
              </a:rPr>
              <a:t>Kenya Coast Coral Connectivity  |  Graph Theory Analysis  |  2024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556248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D6EBF5"/>
                </a:solidFill>
              </a:rPr>
              <a:t>9 / 19</a:t>
            </a:r>
          </a:p>
        </p:txBody>
      </p:sp>
      <p:pic>
        <p:nvPicPr>
          <p:cNvPr id="9" name="Picture 8" descr="community_stru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097280"/>
            <a:ext cx="7157716" cy="534924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8503920" y="1188720"/>
            <a:ext cx="3474720" cy="5120640"/>
          </a:xfrm>
          <a:prstGeom prst="rect">
            <a:avLst/>
          </a:prstGeom>
          <a:solidFill>
            <a:srgbClr val="004E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95360" y="128016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0A500"/>
                </a:solidFill>
              </a:rPr>
              <a:t>3 Communities Detected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49640" y="1828800"/>
            <a:ext cx="3383280" cy="1234440"/>
          </a:xfrm>
          <a:prstGeom prst="rect">
            <a:avLst/>
          </a:prstGeom>
          <a:solidFill>
            <a:srgbClr val="D6E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41080" y="1901952"/>
            <a:ext cx="3246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4E7C"/>
                </a:solidFill>
              </a:rPr>
              <a:t>Community 0 (Northern)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41080" y="2286000"/>
            <a:ext cx="3246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Malindi, Watamu, Mida Creek, Kilifi, Vipingo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549640" y="3200400"/>
            <a:ext cx="3383280" cy="1234440"/>
          </a:xfrm>
          <a:prstGeom prst="rect">
            <a:avLst/>
          </a:prstGeom>
          <a:solidFill>
            <a:srgbClr val="2E8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41080" y="3273552"/>
            <a:ext cx="3246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4E7C"/>
                </a:solidFill>
              </a:rPr>
              <a:t>Community 1 (Central)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41080" y="3657600"/>
            <a:ext cx="3246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Mombasa MNP, Bamburi, Nyali, Tiwi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549640" y="4572000"/>
            <a:ext cx="3383280" cy="1234440"/>
          </a:xfrm>
          <a:prstGeom prst="rect">
            <a:avLst/>
          </a:prstGeom>
          <a:solidFill>
            <a:srgbClr val="E8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41080" y="4645152"/>
            <a:ext cx="3246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4E7C"/>
                </a:solidFill>
              </a:rPr>
              <a:t>Community 2 (Southern)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41080" y="5029200"/>
            <a:ext cx="3246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Diani, Chale, Gazi, Funzi, Shimoni, Kisite-Mpunguti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95360" y="608076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F5E6CA"/>
                </a:solidFill>
              </a:rPr>
              <a:t>Conservation implication: each community should have ≥1 MPA to maintain internal larval supply and recovery capacity.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E6C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4E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E8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601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Degree Distribution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40080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6EBF5"/>
                </a:solidFill>
              </a:rPr>
              <a:t>In-degree and out-degree histograms for all 15 reef patches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4E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5624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6EBF5"/>
                </a:solidFill>
              </a:rPr>
              <a:t>Kenya Coast Coral Connectivity  |  Graph Theory Analysis  |  2024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556248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D6EBF5"/>
                </a:solidFill>
              </a:rPr>
              <a:t>10 / 19</a:t>
            </a:r>
          </a:p>
        </p:txBody>
      </p:sp>
      <p:pic>
        <p:nvPicPr>
          <p:cNvPr id="9" name="Picture 8" descr="degree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43000"/>
            <a:ext cx="7772400" cy="392599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8229600" y="1188720"/>
            <a:ext cx="3657600" cy="5120640"/>
          </a:xfrm>
          <a:prstGeom prst="rect">
            <a:avLst/>
          </a:prstGeom>
          <a:solidFill>
            <a:srgbClr val="004E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1040" y="128016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0A500"/>
                </a:solidFill>
              </a:rPr>
              <a:t>Interpretation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66760" y="1783080"/>
            <a:ext cx="3429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• Most reefs have moderate connectivity (bell-shaped distribution)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66760" y="2651760"/>
            <a:ext cx="3429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• Right-skewed out-degree: a few reefs export larvae to many others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760" y="3520439"/>
            <a:ext cx="3429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• High in-degree reefs act as sinks, useful for recovery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4389120"/>
            <a:ext cx="3429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• Low-degree reefs may be isolated and most vulnerable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E6C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4E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E8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601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Betweenness Centrality — Stepping-Stone Reefs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40080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6EBF5"/>
                </a:solidFill>
              </a:rPr>
              <a:t>Reefs that lie on shortest paths between other reef pairs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4E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5624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6EBF5"/>
                </a:solidFill>
              </a:rPr>
              <a:t>Kenya Coast Coral Connectivity  |  Graph Theory Analysis  |  2024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556248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D6EBF5"/>
                </a:solidFill>
              </a:rPr>
              <a:t>11 / 19</a:t>
            </a:r>
          </a:p>
        </p:txBody>
      </p:sp>
      <p:pic>
        <p:nvPicPr>
          <p:cNvPr id="9" name="Picture 8" descr="bar_betweenn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43000"/>
            <a:ext cx="7772400" cy="3853543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8229600" y="1188720"/>
            <a:ext cx="3657600" cy="5120640"/>
          </a:xfrm>
          <a:prstGeom prst="rect">
            <a:avLst/>
          </a:prstGeom>
          <a:solidFill>
            <a:srgbClr val="004E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1040" y="128016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0A500"/>
                </a:solidFill>
              </a:rPr>
              <a:t>Stepping-Stone Reefs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66760" y="1783080"/>
            <a:ext cx="3429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#1  Mombasa MNP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66760" y="2057400"/>
            <a:ext cx="3429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5E6CA"/>
                </a:solidFill>
              </a:rPr>
              <a:t>Betweenness = 0.357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760" y="2423160"/>
            <a:ext cx="3429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#2  Vipingo Reef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2697480"/>
            <a:ext cx="3429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5E6CA"/>
                </a:solidFill>
              </a:rPr>
              <a:t>Betweenness = 0.357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6760" y="3063239"/>
            <a:ext cx="3429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#3  Kilifi Reef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3337560"/>
            <a:ext cx="3429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5E6CA"/>
                </a:solidFill>
              </a:rPr>
              <a:t>Betweenness = 0.236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3703320"/>
            <a:ext cx="3429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#4  Chale Lagoon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60" y="3977639"/>
            <a:ext cx="3429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5E6CA"/>
                </a:solidFill>
              </a:rPr>
              <a:t>Betweenness = 0.104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66760" y="4389120"/>
            <a:ext cx="3429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D6EBF5"/>
                </a:solidFill>
              </a:rPr>
              <a:t>• Mombasa MNP and Vipingo Reef have the highest betweenness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6760" y="4983480"/>
            <a:ext cx="3429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D6EBF5"/>
                </a:solidFill>
              </a:rPr>
              <a:t>• Removing either would disconnect northern and southern reef communities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66760" y="5577840"/>
            <a:ext cx="3429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D6EBF5"/>
                </a:solidFill>
              </a:rPr>
              <a:t>• Critical corridors for larval flow and genetic exchange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E6C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4E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E8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601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Eigenvector &amp; Closeness Centrality — Hub Reefs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40080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6EBF5"/>
                </a:solidFill>
              </a:rPr>
              <a:t>Reefs connected to well-connected reefs; proximity to the entire network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4E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5624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6EBF5"/>
                </a:solidFill>
              </a:rPr>
              <a:t>Kenya Coast Coral Connectivity  |  Graph Theory Analysis  |  2024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556248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D6EBF5"/>
                </a:solidFill>
              </a:rPr>
              <a:t>12 / 19</a:t>
            </a:r>
          </a:p>
        </p:txBody>
      </p:sp>
      <p:pic>
        <p:nvPicPr>
          <p:cNvPr id="9" name="Picture 8" descr="bar_eigenvect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43000"/>
            <a:ext cx="5760720" cy="2514600"/>
          </a:xfrm>
          <a:prstGeom prst="rect">
            <a:avLst/>
          </a:prstGeom>
        </p:spPr>
      </p:pic>
      <p:pic>
        <p:nvPicPr>
          <p:cNvPr id="10" name="Picture 9" descr="bar_closene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749039"/>
            <a:ext cx="5760720" cy="251460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309360" y="1188720"/>
            <a:ext cx="5577840" cy="5120640"/>
          </a:xfrm>
          <a:prstGeom prst="rect">
            <a:avLst/>
          </a:prstGeom>
          <a:solidFill>
            <a:srgbClr val="004E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280160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0A500"/>
                </a:solidFill>
              </a:rPr>
              <a:t>Hub Reefs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1783080"/>
            <a:ext cx="5349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#1  Chale Lagoon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2057400"/>
            <a:ext cx="5349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5E6CA"/>
                </a:solidFill>
              </a:rPr>
              <a:t>Eigenvector = 0.3827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2423160"/>
            <a:ext cx="5349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#2  Gazi Bay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2697480"/>
            <a:ext cx="5349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5E6CA"/>
                </a:solidFill>
              </a:rPr>
              <a:t>Eigenvector = 0.3784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3063239"/>
            <a:ext cx="5349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#3  Shimoni Reef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3337560"/>
            <a:ext cx="5349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5E6CA"/>
                </a:solidFill>
              </a:rPr>
              <a:t>Eigenvector = 0.3552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3703320"/>
            <a:ext cx="5349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#4  Funzi Bay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3977639"/>
            <a:ext cx="5349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5E6CA"/>
                </a:solidFill>
              </a:rPr>
              <a:t>Eigenvector = 0.3321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4389120"/>
            <a:ext cx="5349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D6EBF5"/>
                </a:solidFill>
              </a:rPr>
              <a:t>• Chale Lagoon &amp; Gazi Bay have the highest eigenvector scores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4983480"/>
            <a:ext cx="5349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D6EBF5"/>
                </a:solidFill>
              </a:rPr>
              <a:t>• These reefs amplify network-wide larval exchange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5577840"/>
            <a:ext cx="5349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D6EBF5"/>
                </a:solidFill>
              </a:rPr>
              <a:t>• Protecting them sustains connectivity throughout the southern cluster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E6C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4E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E8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601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Out-Degree &amp; PageRank — Source Reefs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40080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6EBF5"/>
                </a:solidFill>
              </a:rPr>
              <a:t>Reefs that export the most larvae to the network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4E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5624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6EBF5"/>
                </a:solidFill>
              </a:rPr>
              <a:t>Kenya Coast Coral Connectivity  |  Graph Theory Analysis  |  2024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556248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D6EBF5"/>
                </a:solidFill>
              </a:rPr>
              <a:t>13 / 19</a:t>
            </a:r>
          </a:p>
        </p:txBody>
      </p:sp>
      <p:pic>
        <p:nvPicPr>
          <p:cNvPr id="9" name="Picture 8" descr="bar_out_degre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43000"/>
            <a:ext cx="5760720" cy="2514600"/>
          </a:xfrm>
          <a:prstGeom prst="rect">
            <a:avLst/>
          </a:prstGeom>
        </p:spPr>
      </p:pic>
      <p:pic>
        <p:nvPicPr>
          <p:cNvPr id="10" name="Picture 9" descr="bar_pageran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749039"/>
            <a:ext cx="5760720" cy="251460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309360" y="1188720"/>
            <a:ext cx="5577840" cy="5120640"/>
          </a:xfrm>
          <a:prstGeom prst="rect">
            <a:avLst/>
          </a:prstGeom>
          <a:solidFill>
            <a:srgbClr val="004E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280160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0A500"/>
                </a:solidFill>
              </a:rPr>
              <a:t>Top Source Reefs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1783080"/>
            <a:ext cx="5349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#1  Mombasa MNP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2057400"/>
            <a:ext cx="5349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5E6CA"/>
                </a:solidFill>
              </a:rPr>
              <a:t>Out-degree = 2.436  |  PageRank = 0.0767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2468880"/>
            <a:ext cx="5349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#2  Tiwi Reef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2743200"/>
            <a:ext cx="5349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5E6CA"/>
                </a:solidFill>
              </a:rPr>
              <a:t>Out-degree = 1.932  |  PageRank = 0.0759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3154680"/>
            <a:ext cx="5349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#3  Nyali Reef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3429000"/>
            <a:ext cx="5349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5E6CA"/>
                </a:solidFill>
              </a:rPr>
              <a:t>Out-degree = 1.838  |  PageRank = 0.0760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3840480"/>
            <a:ext cx="5349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#4  Chale Lagoon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4114800"/>
            <a:ext cx="5349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5E6CA"/>
                </a:solidFill>
              </a:rPr>
              <a:t>Out-degree = 1.759  |  PageRank = 0.0968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4434840"/>
            <a:ext cx="5349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D6EBF5"/>
                </a:solidFill>
              </a:rPr>
              <a:t>• Mombasa MNP leads in out-degree (highest larval export)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5029200"/>
            <a:ext cx="5349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D6EBF5"/>
                </a:solidFill>
              </a:rPr>
              <a:t>• Tiwi &amp; Nyali Reefs also strong source reefs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5623559"/>
            <a:ext cx="5349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D6EBF5"/>
                </a:solidFill>
              </a:rPr>
              <a:t>• PageRank captures flow-based prestige beyond direct links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E6C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4E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E8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601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MPA Prioritisation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40080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6EBF5"/>
                </a:solidFill>
              </a:rPr>
              <a:t>Three conservation roles → composite ranking → top-10 MPAs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4E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5624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6EBF5"/>
                </a:solidFill>
              </a:rPr>
              <a:t>Kenya Coast Coral Connectivity  |  Graph Theory Analysis  |  2024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556248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D6EBF5"/>
                </a:solidFill>
              </a:rPr>
              <a:t>14 / 19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188720"/>
            <a:ext cx="3566160" cy="2194560"/>
          </a:xfrm>
          <a:prstGeom prst="rect">
            <a:avLst/>
          </a:prstGeom>
          <a:solidFill>
            <a:srgbClr val="004E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234440"/>
            <a:ext cx="3383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🌊  Source
Strength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965960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5E6CA"/>
                </a:solidFill>
              </a:rPr>
              <a:t>Out-degree (60%) +
PageRank (40%)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560320"/>
            <a:ext cx="3383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D6EBF5"/>
                </a:solidFill>
              </a:rPr>
              <a:t>Reefs that fuel the network
with larvae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51960" y="1188720"/>
            <a:ext cx="3566160" cy="2194560"/>
          </a:xfrm>
          <a:prstGeom prst="rect">
            <a:avLst/>
          </a:prstGeom>
          <a:solidFill>
            <a:srgbClr val="2E8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43400" y="1234440"/>
            <a:ext cx="3383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🔗  Stepping-
Stone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43400" y="1965960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5E6CA"/>
                </a:solidFill>
              </a:rPr>
              <a:t>Betweenness
Centrality (100%)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43400" y="2560320"/>
            <a:ext cx="3383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D6EBF5"/>
                </a:solidFill>
              </a:rPr>
              <a:t>Corridor reefs bridging
isolated clusters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38160" y="1188720"/>
            <a:ext cx="3566160" cy="2194560"/>
          </a:xfrm>
          <a:prstGeom prst="rect">
            <a:avLst/>
          </a:prstGeom>
          <a:solidFill>
            <a:srgbClr val="E8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0" y="1234440"/>
            <a:ext cx="3383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⭐  Influential
Hub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1965960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5E6CA"/>
                </a:solidFill>
              </a:rPr>
              <a:t>Eigenvector (60%) +
Closeness (40%)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2560320"/>
            <a:ext cx="3383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D6EBF5"/>
                </a:solidFill>
              </a:rPr>
              <a:t>Reefs amplifying
network-wide exchange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3520440"/>
            <a:ext cx="11430000" cy="6858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3566160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0A500"/>
                </a:solidFill>
              </a:rPr>
              <a:t>Composite Score  =  ( w₁ × Source  +  w₂ × Stepping-Stone  +  w₃ × Hub )  ÷  (w₁+w₂+w₃)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43434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• All three role scores are min-max normalised to [0, 1] before combining.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493776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• Default: equal weights (w₁ = w₂ = w₃ = 1).  Weights are user-configurable via --w-source, --w-stepping, --w-hub flags.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553212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• The composite score identifies reefs that are simultaneously important sources, corridors, and hubs — the highest-priority MPA candidates.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E6C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4E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E8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601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Top-10 Priority Reefs for MPA Designation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40080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6EBF5"/>
                </a:solidFill>
              </a:rPr>
              <a:t>Composite score ranking (equal weights)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4E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5624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6EBF5"/>
                </a:solidFill>
              </a:rPr>
              <a:t>Kenya Coast Coral Connectivity  |  Graph Theory Analysis  |  2024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556248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D6EBF5"/>
                </a:solidFill>
              </a:rPr>
              <a:t>15 / 19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" y="1188720"/>
            <a:ext cx="548640" cy="384048"/>
          </a:xfrm>
          <a:prstGeom prst="rect">
            <a:avLst/>
          </a:prstGeom>
          <a:solidFill>
            <a:srgbClr val="004E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1243584"/>
            <a:ext cx="457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Rank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1188720"/>
            <a:ext cx="2560320" cy="384048"/>
          </a:xfrm>
          <a:prstGeom prst="rect">
            <a:avLst/>
          </a:prstGeom>
          <a:solidFill>
            <a:srgbClr val="004E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1243584"/>
            <a:ext cx="2468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Reef Patch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37560" y="1188720"/>
            <a:ext cx="1005840" cy="384048"/>
          </a:xfrm>
          <a:prstGeom prst="rect">
            <a:avLst/>
          </a:prstGeom>
          <a:solidFill>
            <a:srgbClr val="004E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83280" y="1243584"/>
            <a:ext cx="914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Source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43400" y="1188720"/>
            <a:ext cx="1463040" cy="384048"/>
          </a:xfrm>
          <a:prstGeom prst="rect">
            <a:avLst/>
          </a:prstGeom>
          <a:solidFill>
            <a:srgbClr val="004E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89120" y="1243584"/>
            <a:ext cx="1371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Stepping-Stone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806440" y="1188720"/>
            <a:ext cx="777240" cy="384048"/>
          </a:xfrm>
          <a:prstGeom prst="rect">
            <a:avLst/>
          </a:prstGeom>
          <a:solidFill>
            <a:srgbClr val="004E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852160" y="1243584"/>
            <a:ext cx="685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Hub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0" y="1188720"/>
            <a:ext cx="1097280" cy="384048"/>
          </a:xfrm>
          <a:prstGeom prst="rect">
            <a:avLst/>
          </a:prstGeom>
          <a:solidFill>
            <a:srgbClr val="004E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29400" y="1243584"/>
            <a:ext cx="1005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Composite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80960" y="1188720"/>
            <a:ext cx="4114800" cy="384048"/>
          </a:xfrm>
          <a:prstGeom prst="rect">
            <a:avLst/>
          </a:prstGeom>
          <a:solidFill>
            <a:srgbClr val="004E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26680" y="1243584"/>
            <a:ext cx="4023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Key Role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28600" y="1572768"/>
            <a:ext cx="548640" cy="384048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65176" y="1627632"/>
            <a:ext cx="47548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4E7C"/>
                </a:solidFill>
              </a:rPr>
              <a:t>1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1572768"/>
            <a:ext cx="2560320" cy="384048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3816" y="1627632"/>
            <a:ext cx="248716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4E7C"/>
                </a:solidFill>
              </a:rPr>
              <a:t>Mombasa MNP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337560" y="1572768"/>
            <a:ext cx="1005840" cy="384048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374136" y="1627632"/>
            <a:ext cx="93268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4E7C"/>
                </a:solidFill>
              </a:rPr>
              <a:t>1.0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343400" y="1572768"/>
            <a:ext cx="1463040" cy="384048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79976" y="1627632"/>
            <a:ext cx="138988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4E7C"/>
                </a:solidFill>
              </a:rPr>
              <a:t>1.0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806440" y="1572768"/>
            <a:ext cx="777240" cy="384048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843016" y="1627632"/>
            <a:ext cx="70408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4E7C"/>
                </a:solidFill>
              </a:rPr>
              <a:t>0.9465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0" y="1572768"/>
            <a:ext cx="1097280" cy="384048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20256" y="1627632"/>
            <a:ext cx="102412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4E7C"/>
                </a:solidFill>
              </a:rPr>
              <a:t>0.9822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680960" y="1572768"/>
            <a:ext cx="4114800" cy="384048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717536" y="1627632"/>
            <a:ext cx="40416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4E7C"/>
                </a:solidFill>
              </a:rPr>
              <a:t>Source + stepping-stone + hub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28600" y="1956816"/>
            <a:ext cx="54864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65176" y="2011680"/>
            <a:ext cx="47548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2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77240" y="1956816"/>
            <a:ext cx="256032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13816" y="2011680"/>
            <a:ext cx="248716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1A2E"/>
                </a:solidFill>
              </a:rPr>
              <a:t>Chale Lagoon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337560" y="1956816"/>
            <a:ext cx="100584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374136" y="2011680"/>
            <a:ext cx="93268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0.8171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343400" y="1956816"/>
            <a:ext cx="146304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379976" y="2011680"/>
            <a:ext cx="138988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0.2923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806440" y="1956816"/>
            <a:ext cx="77724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843016" y="2011680"/>
            <a:ext cx="70408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1.0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583680" y="1956816"/>
            <a:ext cx="109728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620256" y="2011680"/>
            <a:ext cx="102412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0.7031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680960" y="1956816"/>
            <a:ext cx="411480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717536" y="2011680"/>
            <a:ext cx="40416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Hub + source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28600" y="2340864"/>
            <a:ext cx="548640" cy="384048"/>
          </a:xfrm>
          <a:prstGeom prst="rect">
            <a:avLst/>
          </a:prstGeom>
          <a:solidFill>
            <a:srgbClr val="D6E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65176" y="2395728"/>
            <a:ext cx="47548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3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77240" y="2340864"/>
            <a:ext cx="2560320" cy="384048"/>
          </a:xfrm>
          <a:prstGeom prst="rect">
            <a:avLst/>
          </a:prstGeom>
          <a:solidFill>
            <a:srgbClr val="D6E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13816" y="2395728"/>
            <a:ext cx="248716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1A2E"/>
                </a:solidFill>
              </a:rPr>
              <a:t>Vipingo Reef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337560" y="2340864"/>
            <a:ext cx="1005840" cy="384048"/>
          </a:xfrm>
          <a:prstGeom prst="rect">
            <a:avLst/>
          </a:prstGeom>
          <a:solidFill>
            <a:srgbClr val="D6E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374136" y="2395728"/>
            <a:ext cx="93268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0.3531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343400" y="2340864"/>
            <a:ext cx="1463040" cy="384048"/>
          </a:xfrm>
          <a:prstGeom prst="rect">
            <a:avLst/>
          </a:prstGeom>
          <a:solidFill>
            <a:srgbClr val="D6E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379976" y="2395728"/>
            <a:ext cx="138988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1.0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806440" y="2340864"/>
            <a:ext cx="777240" cy="384048"/>
          </a:xfrm>
          <a:prstGeom prst="rect">
            <a:avLst/>
          </a:prstGeom>
          <a:solidFill>
            <a:srgbClr val="D6E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843016" y="2395728"/>
            <a:ext cx="70408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0.5061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583680" y="2340864"/>
            <a:ext cx="1097280" cy="384048"/>
          </a:xfrm>
          <a:prstGeom prst="rect">
            <a:avLst/>
          </a:prstGeom>
          <a:solidFill>
            <a:srgbClr val="D6E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620256" y="2395728"/>
            <a:ext cx="102412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0.6197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680960" y="2340864"/>
            <a:ext cx="4114800" cy="384048"/>
          </a:xfrm>
          <a:prstGeom prst="rect">
            <a:avLst/>
          </a:prstGeom>
          <a:solidFill>
            <a:srgbClr val="D6E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717536" y="2395728"/>
            <a:ext cx="40416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Stepping-stone + source</a:t>
            </a:r>
          </a:p>
        </p:txBody>
      </p:sp>
      <p:sp>
        <p:nvSpPr>
          <p:cNvPr id="65" name="Rectangle 64"/>
          <p:cNvSpPr/>
          <p:nvPr/>
        </p:nvSpPr>
        <p:spPr>
          <a:xfrm>
            <a:off x="228600" y="2724912"/>
            <a:ext cx="54864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265176" y="2779776"/>
            <a:ext cx="47548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4</a:t>
            </a:r>
          </a:p>
        </p:txBody>
      </p:sp>
      <p:sp>
        <p:nvSpPr>
          <p:cNvPr id="67" name="Rectangle 66"/>
          <p:cNvSpPr/>
          <p:nvPr/>
        </p:nvSpPr>
        <p:spPr>
          <a:xfrm>
            <a:off x="777240" y="2724912"/>
            <a:ext cx="256032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13816" y="2779776"/>
            <a:ext cx="248716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1A2E"/>
                </a:solidFill>
              </a:rPr>
              <a:t>Nyali Reef</a:t>
            </a:r>
          </a:p>
        </p:txBody>
      </p:sp>
      <p:sp>
        <p:nvSpPr>
          <p:cNvPr id="69" name="Rectangle 68"/>
          <p:cNvSpPr/>
          <p:nvPr/>
        </p:nvSpPr>
        <p:spPr>
          <a:xfrm>
            <a:off x="3337560" y="2724912"/>
            <a:ext cx="100584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3374136" y="2779776"/>
            <a:ext cx="93268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0.7225</a:t>
            </a:r>
          </a:p>
        </p:txBody>
      </p:sp>
      <p:sp>
        <p:nvSpPr>
          <p:cNvPr id="71" name="Rectangle 70"/>
          <p:cNvSpPr/>
          <p:nvPr/>
        </p:nvSpPr>
        <p:spPr>
          <a:xfrm>
            <a:off x="4343400" y="2724912"/>
            <a:ext cx="146304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379976" y="2779776"/>
            <a:ext cx="138988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0.2769</a:t>
            </a:r>
          </a:p>
        </p:txBody>
      </p:sp>
      <p:sp>
        <p:nvSpPr>
          <p:cNvPr id="73" name="Rectangle 72"/>
          <p:cNvSpPr/>
          <p:nvPr/>
        </p:nvSpPr>
        <p:spPr>
          <a:xfrm>
            <a:off x="5806440" y="2724912"/>
            <a:ext cx="77724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5843016" y="2779776"/>
            <a:ext cx="70408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0.8432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583680" y="2724912"/>
            <a:ext cx="109728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620256" y="2779776"/>
            <a:ext cx="102412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0.6142</a:t>
            </a:r>
          </a:p>
        </p:txBody>
      </p:sp>
      <p:sp>
        <p:nvSpPr>
          <p:cNvPr id="77" name="Rectangle 76"/>
          <p:cNvSpPr/>
          <p:nvPr/>
        </p:nvSpPr>
        <p:spPr>
          <a:xfrm>
            <a:off x="7680960" y="2724912"/>
            <a:ext cx="411480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7717536" y="2779776"/>
            <a:ext cx="40416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Hub + source</a:t>
            </a:r>
          </a:p>
        </p:txBody>
      </p:sp>
      <p:sp>
        <p:nvSpPr>
          <p:cNvPr id="79" name="Rectangle 78"/>
          <p:cNvSpPr/>
          <p:nvPr/>
        </p:nvSpPr>
        <p:spPr>
          <a:xfrm>
            <a:off x="228600" y="3108960"/>
            <a:ext cx="548640" cy="384048"/>
          </a:xfrm>
          <a:prstGeom prst="rect">
            <a:avLst/>
          </a:prstGeom>
          <a:solidFill>
            <a:srgbClr val="D6E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265176" y="3163824"/>
            <a:ext cx="47548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5</a:t>
            </a:r>
          </a:p>
        </p:txBody>
      </p:sp>
      <p:sp>
        <p:nvSpPr>
          <p:cNvPr id="81" name="Rectangle 80"/>
          <p:cNvSpPr/>
          <p:nvPr/>
        </p:nvSpPr>
        <p:spPr>
          <a:xfrm>
            <a:off x="777240" y="3108960"/>
            <a:ext cx="2560320" cy="384048"/>
          </a:xfrm>
          <a:prstGeom prst="rect">
            <a:avLst/>
          </a:prstGeom>
          <a:solidFill>
            <a:srgbClr val="D6E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813816" y="3163824"/>
            <a:ext cx="248716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1A2E"/>
                </a:solidFill>
              </a:rPr>
              <a:t>Gazi Bay</a:t>
            </a:r>
          </a:p>
        </p:txBody>
      </p:sp>
      <p:sp>
        <p:nvSpPr>
          <p:cNvPr id="83" name="Rectangle 82"/>
          <p:cNvSpPr/>
          <p:nvPr/>
        </p:nvSpPr>
        <p:spPr>
          <a:xfrm>
            <a:off x="3337560" y="3108960"/>
            <a:ext cx="1005840" cy="384048"/>
          </a:xfrm>
          <a:prstGeom prst="rect">
            <a:avLst/>
          </a:prstGeom>
          <a:solidFill>
            <a:srgbClr val="D6E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3374136" y="3163824"/>
            <a:ext cx="93268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0.7377</a:t>
            </a:r>
          </a:p>
        </p:txBody>
      </p:sp>
      <p:sp>
        <p:nvSpPr>
          <p:cNvPr id="85" name="Rectangle 84"/>
          <p:cNvSpPr/>
          <p:nvPr/>
        </p:nvSpPr>
        <p:spPr>
          <a:xfrm>
            <a:off x="4343400" y="3108960"/>
            <a:ext cx="1463040" cy="384048"/>
          </a:xfrm>
          <a:prstGeom prst="rect">
            <a:avLst/>
          </a:prstGeom>
          <a:solidFill>
            <a:srgbClr val="D6E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4379976" y="3163824"/>
            <a:ext cx="138988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0.1385</a:t>
            </a:r>
          </a:p>
        </p:txBody>
      </p:sp>
      <p:sp>
        <p:nvSpPr>
          <p:cNvPr id="87" name="Rectangle 86"/>
          <p:cNvSpPr/>
          <p:nvPr/>
        </p:nvSpPr>
        <p:spPr>
          <a:xfrm>
            <a:off x="5806440" y="3108960"/>
            <a:ext cx="777240" cy="384048"/>
          </a:xfrm>
          <a:prstGeom prst="rect">
            <a:avLst/>
          </a:prstGeom>
          <a:solidFill>
            <a:srgbClr val="D6E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5843016" y="3163824"/>
            <a:ext cx="70408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0.9477</a:t>
            </a:r>
          </a:p>
        </p:txBody>
      </p:sp>
      <p:sp>
        <p:nvSpPr>
          <p:cNvPr id="89" name="Rectangle 88"/>
          <p:cNvSpPr/>
          <p:nvPr/>
        </p:nvSpPr>
        <p:spPr>
          <a:xfrm>
            <a:off x="6583680" y="3108960"/>
            <a:ext cx="1097280" cy="384048"/>
          </a:xfrm>
          <a:prstGeom prst="rect">
            <a:avLst/>
          </a:prstGeom>
          <a:solidFill>
            <a:srgbClr val="D6E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6620256" y="3163824"/>
            <a:ext cx="102412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0.608</a:t>
            </a:r>
          </a:p>
        </p:txBody>
      </p:sp>
      <p:sp>
        <p:nvSpPr>
          <p:cNvPr id="91" name="Rectangle 90"/>
          <p:cNvSpPr/>
          <p:nvPr/>
        </p:nvSpPr>
        <p:spPr>
          <a:xfrm>
            <a:off x="7680960" y="3108960"/>
            <a:ext cx="4114800" cy="384048"/>
          </a:xfrm>
          <a:prstGeom prst="rect">
            <a:avLst/>
          </a:prstGeom>
          <a:solidFill>
            <a:srgbClr val="D6E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7717536" y="3163824"/>
            <a:ext cx="40416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Hub + source</a:t>
            </a:r>
          </a:p>
        </p:txBody>
      </p:sp>
      <p:sp>
        <p:nvSpPr>
          <p:cNvPr id="93" name="Rectangle 92"/>
          <p:cNvSpPr/>
          <p:nvPr/>
        </p:nvSpPr>
        <p:spPr>
          <a:xfrm>
            <a:off x="228600" y="3493008"/>
            <a:ext cx="54864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265176" y="3547872"/>
            <a:ext cx="47548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6</a:t>
            </a:r>
          </a:p>
        </p:txBody>
      </p:sp>
      <p:sp>
        <p:nvSpPr>
          <p:cNvPr id="95" name="Rectangle 94"/>
          <p:cNvSpPr/>
          <p:nvPr/>
        </p:nvSpPr>
        <p:spPr>
          <a:xfrm>
            <a:off x="777240" y="3493008"/>
            <a:ext cx="256032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813816" y="3547872"/>
            <a:ext cx="248716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1A2E"/>
                </a:solidFill>
              </a:rPr>
              <a:t>Diani Reef</a:t>
            </a:r>
          </a:p>
        </p:txBody>
      </p:sp>
      <p:sp>
        <p:nvSpPr>
          <p:cNvPr id="97" name="Rectangle 96"/>
          <p:cNvSpPr/>
          <p:nvPr/>
        </p:nvSpPr>
        <p:spPr>
          <a:xfrm>
            <a:off x="3337560" y="3493008"/>
            <a:ext cx="100584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3374136" y="3547872"/>
            <a:ext cx="93268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0.7148</a:t>
            </a:r>
          </a:p>
        </p:txBody>
      </p:sp>
      <p:sp>
        <p:nvSpPr>
          <p:cNvPr id="99" name="Rectangle 98"/>
          <p:cNvSpPr/>
          <p:nvPr/>
        </p:nvSpPr>
        <p:spPr>
          <a:xfrm>
            <a:off x="4343400" y="3493008"/>
            <a:ext cx="146304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4379976" y="3547872"/>
            <a:ext cx="138988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0.2615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5806440" y="3493008"/>
            <a:ext cx="77724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5843016" y="3547872"/>
            <a:ext cx="70408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0.8435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6583680" y="3493008"/>
            <a:ext cx="109728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6620256" y="3547872"/>
            <a:ext cx="102412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0.6066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7680960" y="3493008"/>
            <a:ext cx="411480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7717536" y="3547872"/>
            <a:ext cx="40416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Hub + source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228600" y="3877056"/>
            <a:ext cx="548640" cy="384048"/>
          </a:xfrm>
          <a:prstGeom prst="rect">
            <a:avLst/>
          </a:prstGeom>
          <a:solidFill>
            <a:srgbClr val="D6E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265176" y="3931920"/>
            <a:ext cx="47548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7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777240" y="3877056"/>
            <a:ext cx="2560320" cy="384048"/>
          </a:xfrm>
          <a:prstGeom prst="rect">
            <a:avLst/>
          </a:prstGeom>
          <a:solidFill>
            <a:srgbClr val="D6E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813816" y="3931920"/>
            <a:ext cx="248716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1A2E"/>
                </a:solidFill>
              </a:rPr>
              <a:t>Tiwi Reef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3337560" y="3877056"/>
            <a:ext cx="1005840" cy="384048"/>
          </a:xfrm>
          <a:prstGeom prst="rect">
            <a:avLst/>
          </a:prstGeom>
          <a:solidFill>
            <a:srgbClr val="D6E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3374136" y="3931920"/>
            <a:ext cx="93268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0.7649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4343400" y="3877056"/>
            <a:ext cx="1463040" cy="384048"/>
          </a:xfrm>
          <a:prstGeom prst="rect">
            <a:avLst/>
          </a:prstGeom>
          <a:solidFill>
            <a:srgbClr val="D6E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4379976" y="3931920"/>
            <a:ext cx="138988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0.1385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5806440" y="3877056"/>
            <a:ext cx="777240" cy="384048"/>
          </a:xfrm>
          <a:prstGeom prst="rect">
            <a:avLst/>
          </a:prstGeom>
          <a:solidFill>
            <a:srgbClr val="D6E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5843016" y="3931920"/>
            <a:ext cx="70408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0.8412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6583680" y="3877056"/>
            <a:ext cx="1097280" cy="384048"/>
          </a:xfrm>
          <a:prstGeom prst="rect">
            <a:avLst/>
          </a:prstGeom>
          <a:solidFill>
            <a:srgbClr val="D6E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6620256" y="3931920"/>
            <a:ext cx="102412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0.5815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7680960" y="3877056"/>
            <a:ext cx="4114800" cy="384048"/>
          </a:xfrm>
          <a:prstGeom prst="rect">
            <a:avLst/>
          </a:prstGeom>
          <a:solidFill>
            <a:srgbClr val="D6E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7717536" y="3931920"/>
            <a:ext cx="40416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Source + hub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228600" y="4261104"/>
            <a:ext cx="54864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265176" y="4315968"/>
            <a:ext cx="47548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8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777240" y="4261104"/>
            <a:ext cx="256032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813816" y="4315968"/>
            <a:ext cx="248716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1A2E"/>
                </a:solidFill>
              </a:rPr>
              <a:t>Shimoni Reef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3337560" y="4261104"/>
            <a:ext cx="100584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3374136" y="4315968"/>
            <a:ext cx="93268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0.7793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4343400" y="4261104"/>
            <a:ext cx="146304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4379976" y="4315968"/>
            <a:ext cx="138988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0.0769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5806440" y="4261104"/>
            <a:ext cx="77724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5843016" y="4315968"/>
            <a:ext cx="70408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0.8418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6583680" y="4261104"/>
            <a:ext cx="109728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6620256" y="4315968"/>
            <a:ext cx="102412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0.566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7680960" y="4261104"/>
            <a:ext cx="411480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7717536" y="4315968"/>
            <a:ext cx="40416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Source + hub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228600" y="4645152"/>
            <a:ext cx="548640" cy="384048"/>
          </a:xfrm>
          <a:prstGeom prst="rect">
            <a:avLst/>
          </a:prstGeom>
          <a:solidFill>
            <a:srgbClr val="D6E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265176" y="4700016"/>
            <a:ext cx="47548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9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777240" y="4645152"/>
            <a:ext cx="2560320" cy="384048"/>
          </a:xfrm>
          <a:prstGeom prst="rect">
            <a:avLst/>
          </a:prstGeom>
          <a:solidFill>
            <a:srgbClr val="D6E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813816" y="4700016"/>
            <a:ext cx="248716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1A2E"/>
                </a:solidFill>
              </a:rPr>
              <a:t>Funzi Bay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3337560" y="4645152"/>
            <a:ext cx="1005840" cy="384048"/>
          </a:xfrm>
          <a:prstGeom prst="rect">
            <a:avLst/>
          </a:prstGeom>
          <a:solidFill>
            <a:srgbClr val="D6E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3374136" y="4700016"/>
            <a:ext cx="93268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0.5785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4343400" y="4645152"/>
            <a:ext cx="1463040" cy="384048"/>
          </a:xfrm>
          <a:prstGeom prst="rect">
            <a:avLst/>
          </a:prstGeom>
          <a:solidFill>
            <a:srgbClr val="D6E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4379976" y="4700016"/>
            <a:ext cx="138988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0.1538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5806440" y="4645152"/>
            <a:ext cx="777240" cy="384048"/>
          </a:xfrm>
          <a:prstGeom prst="rect">
            <a:avLst/>
          </a:prstGeom>
          <a:solidFill>
            <a:srgbClr val="D6E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5843016" y="4700016"/>
            <a:ext cx="70408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0.814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6583680" y="4645152"/>
            <a:ext cx="1097280" cy="384048"/>
          </a:xfrm>
          <a:prstGeom prst="rect">
            <a:avLst/>
          </a:prstGeom>
          <a:solidFill>
            <a:srgbClr val="D6E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6620256" y="4700016"/>
            <a:ext cx="102412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0.5154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7680960" y="4645152"/>
            <a:ext cx="4114800" cy="384048"/>
          </a:xfrm>
          <a:prstGeom prst="rect">
            <a:avLst/>
          </a:prstGeom>
          <a:solidFill>
            <a:srgbClr val="D6E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7717536" y="4700016"/>
            <a:ext cx="40416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Hub + source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228600" y="5029200"/>
            <a:ext cx="54864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265176" y="5084064"/>
            <a:ext cx="47548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10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777240" y="5029200"/>
            <a:ext cx="256032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813816" y="5084064"/>
            <a:ext cx="248716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1A2E"/>
                </a:solidFill>
              </a:rPr>
              <a:t>Kisite Mpunguti MNP</a:t>
            </a:r>
          </a:p>
        </p:txBody>
      </p:sp>
      <p:sp>
        <p:nvSpPr>
          <p:cNvPr id="153" name="Rectangle 152"/>
          <p:cNvSpPr/>
          <p:nvPr/>
        </p:nvSpPr>
        <p:spPr>
          <a:xfrm>
            <a:off x="3337560" y="5029200"/>
            <a:ext cx="100584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3374136" y="5084064"/>
            <a:ext cx="93268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0.5425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4343400" y="5029200"/>
            <a:ext cx="146304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4379976" y="5084064"/>
            <a:ext cx="138988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0.0</a:t>
            </a:r>
          </a:p>
        </p:txBody>
      </p:sp>
      <p:sp>
        <p:nvSpPr>
          <p:cNvPr id="157" name="Rectangle 156"/>
          <p:cNvSpPr/>
          <p:nvPr/>
        </p:nvSpPr>
        <p:spPr>
          <a:xfrm>
            <a:off x="5806440" y="5029200"/>
            <a:ext cx="77724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5843016" y="5084064"/>
            <a:ext cx="70408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0.7052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6583680" y="5029200"/>
            <a:ext cx="109728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6620256" y="5084064"/>
            <a:ext cx="102412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0.4159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7680960" y="5029200"/>
            <a:ext cx="411480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TextBox 161"/>
          <p:cNvSpPr txBox="1"/>
          <p:nvPr/>
        </p:nvSpPr>
        <p:spPr>
          <a:xfrm>
            <a:off x="7717536" y="5084064"/>
            <a:ext cx="40416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Hub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E6C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4E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E8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601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Top-10 MPA Candidates — Composite Score Breakdown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40080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6EBF5"/>
                </a:solidFill>
              </a:rPr>
              <a:t>Stacked bars show contribution of each conservation criterion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4E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5624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6EBF5"/>
                </a:solidFill>
              </a:rPr>
              <a:t>Kenya Coast Coral Connectivity  |  Graph Theory Analysis  |  2024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556248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D6EBF5"/>
                </a:solidFill>
              </a:rPr>
              <a:t>16 / 19</a:t>
            </a:r>
          </a:p>
        </p:txBody>
      </p:sp>
      <p:pic>
        <p:nvPicPr>
          <p:cNvPr id="9" name="Picture 8" descr="top10_composite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097280"/>
            <a:ext cx="10789145" cy="534924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8549640" y="1188720"/>
            <a:ext cx="3429000" cy="5120640"/>
          </a:xfrm>
          <a:prstGeom prst="rect">
            <a:avLst/>
          </a:prstGeom>
          <a:solidFill>
            <a:srgbClr val="004E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41080" y="1280160"/>
            <a:ext cx="3246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0A500"/>
                </a:solidFill>
              </a:rPr>
              <a:t>Score Legend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41080" y="1874519"/>
            <a:ext cx="320040" cy="32004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52560" y="182880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Source strength
(out-degree + PageRank)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641080" y="2788920"/>
            <a:ext cx="320040" cy="32004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52560" y="274320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Stepping-stone
(betweenness centrality)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41080" y="3703320"/>
            <a:ext cx="320040" cy="32004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52560" y="365760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Hub influence
(eigenvector + closeness)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641080" y="4754880"/>
            <a:ext cx="3246120" cy="36576"/>
          </a:xfrm>
          <a:prstGeom prst="rect">
            <a:avLst/>
          </a:prstGeom>
          <a:solidFill>
            <a:srgbClr val="E8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41080" y="4846320"/>
            <a:ext cx="3246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D6EBF5"/>
                </a:solidFill>
              </a:rPr>
              <a:t>Mombasa MNP scores near-perfect across all three criteria, making it the undisputed #1 priority.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E6C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4E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E8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601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Conservation Recommendations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40080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6EBF5"/>
                </a:solidFill>
              </a:rPr>
              <a:t>Evidence-based MPA network design for the Kenya coast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4E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5624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6EBF5"/>
                </a:solidFill>
              </a:rPr>
              <a:t>Kenya Coast Coral Connectivity  |  Graph Theory Analysis  |  2024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556248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D6EBF5"/>
                </a:solidFill>
              </a:rPr>
              <a:t>17 / 19</a:t>
            </a:r>
          </a:p>
        </p:txBody>
      </p:sp>
      <p:pic>
        <p:nvPicPr>
          <p:cNvPr id="9" name="Picture 8" descr="mpa_priority_rank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097280"/>
            <a:ext cx="6593249" cy="534924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7315200" y="1188720"/>
            <a:ext cx="4663440" cy="5120640"/>
          </a:xfrm>
          <a:prstGeom prst="rect">
            <a:avLst/>
          </a:prstGeom>
          <a:solidFill>
            <a:srgbClr val="004E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06640" y="1280160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0A500"/>
                </a:solidFill>
              </a:rPr>
              <a:t>Priority Actions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06640" y="1783080"/>
            <a:ext cx="1097280" cy="548640"/>
          </a:xfrm>
          <a:prstGeom prst="rect">
            <a:avLst/>
          </a:prstGeom>
          <a:solidFill>
            <a:srgbClr val="E8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24927" y="1856232"/>
            <a:ext cx="106070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A1A2E"/>
                </a:solidFill>
              </a:rPr>
              <a:t>Immediately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0" y="1819656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Strengthen protection at Mombasa MNP – the network's single most critical node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406640" y="2468880"/>
            <a:ext cx="1097280" cy="548640"/>
          </a:xfrm>
          <a:prstGeom prst="rect">
            <a:avLst/>
          </a:prstGeom>
          <a:solidFill>
            <a:srgbClr val="2E8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24927" y="2542032"/>
            <a:ext cx="106070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A1A2E"/>
                </a:solidFill>
              </a:rPr>
              <a:t>Short-term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5360" y="2505456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Designate Vipingo Reef as a no-take MPA to secure the stepping-stone corridor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406640" y="3154680"/>
            <a:ext cx="1097280" cy="548640"/>
          </a:xfrm>
          <a:prstGeom prst="rect">
            <a:avLst/>
          </a:prstGeom>
          <a:solidFill>
            <a:srgbClr val="2E8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24927" y="3227832"/>
            <a:ext cx="106070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A1A2E"/>
                </a:solidFill>
              </a:rPr>
              <a:t>Short-term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95360" y="3191256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Protect Chale Lagoon as the southern cluster's dominant hub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406640" y="3840480"/>
            <a:ext cx="1097280" cy="548640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24927" y="3913632"/>
            <a:ext cx="106070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A1A2E"/>
                </a:solidFill>
              </a:rPr>
              <a:t>Medium-term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95360" y="3877056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Establish MPAs at Nyali, Gazi Bay &amp; Diani to safeguard the southern source cluster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406640" y="4526280"/>
            <a:ext cx="1097280" cy="548640"/>
          </a:xfrm>
          <a:prstGeom prst="rect">
            <a:avLst/>
          </a:prstGeom>
          <a:solidFill>
            <a:srgbClr val="D6E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24927" y="4599432"/>
            <a:ext cx="106070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A1A2E"/>
                </a:solidFill>
              </a:rPr>
              <a:t>Long-term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95360" y="4562856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Create a co-managed MPA network linking all 3 reef communities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406640" y="5212080"/>
            <a:ext cx="1097280" cy="548640"/>
          </a:xfrm>
          <a:prstGeom prst="rect">
            <a:avLst/>
          </a:prstGeom>
          <a:solidFill>
            <a:srgbClr val="D6E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24927" y="5285232"/>
            <a:ext cx="106070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A1A2E"/>
                </a:solidFill>
              </a:rPr>
              <a:t>Monitoring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95360" y="5248656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Deploy connectivity tagging (otolith / genetics) to validate modelled dispersal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E6C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4E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E8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601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Conclusions &amp; Next Steps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4E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5624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6EBF5"/>
                </a:solidFill>
              </a:rPr>
              <a:t>Kenya Coast Coral Connectivity  |  Graph Theory Analysis  |  2024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556248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D6EBF5"/>
                </a:solidFill>
              </a:rPr>
              <a:t>18 / 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188720"/>
            <a:ext cx="5669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4E7C"/>
                </a:solidFill>
              </a:rPr>
              <a:t>Key Conclusions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691640"/>
            <a:ext cx="56692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1A1A2E"/>
                </a:solidFill>
              </a:rPr>
              <a:t>● Graph theory provides a powerful, quantitative framework for MPA network design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A1A2E"/>
                </a:solidFill>
              </a:rPr>
              <a:t>● 15 Kenya coast reef patches form 3 distinct communities with limited inter-cluster connectivity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A1A2E"/>
                </a:solidFill>
              </a:rPr>
              <a:t>● Mombasa MNP is simultaneously the top source, stepping-stone, and hub — protect it first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A1A2E"/>
                </a:solidFill>
              </a:rPr>
              <a:t>● Vipingo Reef is the critical corridor; its loss would disconnect northern and southern reef communities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A1A2E"/>
                </a:solidFill>
              </a:rPr>
              <a:t>● The composite ranking identifies 10 reef patches that, if protected, would safeguard the majority of larval-dispersal pathways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A1A2E"/>
                </a:solidFill>
              </a:rPr>
              <a:t>● A network of just 5 strategically distributed MPAs (one per community + 2 stepping-stone reefs) would cover &gt;80 % of connectivity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1188720"/>
            <a:ext cx="36576" cy="5120640"/>
          </a:xfrm>
          <a:prstGeom prst="rect">
            <a:avLst/>
          </a:prstGeom>
          <a:solidFill>
            <a:srgbClr val="E8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188720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4E7C"/>
                </a:solidFill>
              </a:rPr>
              <a:t>Next Steps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1691640"/>
            <a:ext cx="5394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1A1A2E"/>
                </a:solidFill>
              </a:rPr>
              <a:t>● Validate connectivity model with genetic / otolith dispersal data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A1A2E"/>
                </a:solidFill>
              </a:rPr>
              <a:t>● Incorporate climate projections (bleaching, sea-level rise) into connectivity model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A1A2E"/>
                </a:solidFill>
              </a:rPr>
              <a:t>● Apply optimisation (simulated annealing / ILP) to maximise MPA coverage per $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A1A2E"/>
                </a:solidFill>
              </a:rPr>
              <a:t>● Extend to the wider Western Indian Ocean reef network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A1A2E"/>
                </a:solidFill>
              </a:rPr>
              <a:t>● Develop an interactive decision-support dashboard for marine park managers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4E7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E8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References &amp; Acknowledgements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14400"/>
            <a:ext cx="11247120" cy="45720"/>
          </a:xfrm>
          <a:prstGeom prst="rect">
            <a:avLst/>
          </a:prstGeom>
          <a:solidFill>
            <a:srgbClr val="E8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5E6CA"/>
                </a:solidFill>
              </a:rPr>
              <a:t>Almany G.R. et al. (2009). Connectivity, biodiversity conservation and the design of marine reserve networks for coral reefs. Coral Reefs 28:339–351.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55648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5E6CA"/>
                </a:solidFill>
              </a:rPr>
              <a:t>Halpern B.S. et al. (2006). Accounting for uncertainty in marine reserve design. Ecology Letters 9:2–12.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414015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5E6CA"/>
                </a:solidFill>
              </a:rPr>
              <a:t>Newman M.E.J. (2006). Modularity and community structure in networks. PNAS 103:8577–8582.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072384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5E6CA"/>
                </a:solidFill>
              </a:rPr>
              <a:t>Treml E.A. et al. (2008). Modeling population connectivity by ocean currents, a graph‑theoretic approach. Landscape Ecology 23:19–36.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730752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5E6CA"/>
                </a:solidFill>
              </a:rPr>
              <a:t>White J.W. et al. (2010). Graph-theory approaches to the connectivity of marine reserves. Ecological Modelling 221:886–897.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389120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5E6CA"/>
                </a:solidFill>
              </a:rPr>
              <a:t>UNEP-WCMC, WorldFish, WRI, TNC (2021). Global distribution of coral reefs. Ocean+ Library.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5074920"/>
            <a:ext cx="11247120" cy="45720"/>
          </a:xfrm>
          <a:prstGeom prst="rect">
            <a:avLst/>
          </a:prstGeom>
          <a:solidFill>
            <a:srgbClr val="E8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516636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0A500"/>
                </a:solidFill>
              </a:rPr>
              <a:t>Acknowledgements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62356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6EBF5"/>
                </a:solidFill>
              </a:rPr>
              <a:t>Kenya Wildlife Service  ·  Kenya Marine &amp; Fisheries Research Institute (KMFRI)  ·  Wildlife Conservation Society Kenya  ·  CORDIO East Africa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08076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5E6CA"/>
                </a:solidFill>
              </a:rPr>
              <a:t>Code &amp; data: github.com/ALEXASWA/kenya-coast-coral-connectivity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